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406640" y="0"/>
            <a:ext cx="4785055" cy="68580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B7A4C"/>
                </a:solidFill>
                <a:latin typeface="Meiryo UI"/>
              </a:defRPr>
            </a:pPr>
            <a:r>
              <a:t>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2332"/>
                </a:solidFill>
                <a:latin typeface="Meiryo UI"/>
              </a:defRPr>
            </a:pPr>
            <a:r>
              <a:t>商品ご提案書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AABB8"/>
                </a:solidFill>
                <a:latin typeface="Meiryo UI"/>
              </a:defRPr>
            </a:pPr>
            <a:r>
              <a:t>Product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案件名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4709159"/>
            <a:ext cx="41148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93775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ご提案先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5257799"/>
            <a:ext cx="41148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548639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提案日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80" y="5806439"/>
            <a:ext cx="41148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603503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担当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0" y="6355079"/>
            <a:ext cx="4114800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32331"/>
            <a:ext cx="457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332"/>
                </a:solidFill>
                <a:latin typeface="Meiryo UI"/>
              </a:defRPr>
            </a:pPr>
            <a:r>
              <a:t>ご提案概要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PROPOSAL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3474720" cy="4754880"/>
          </a:xfrm>
          <a:prstGeom prst="roundRect">
            <a:avLst>
              <a:gd name="adj" fmla="val 9490"/>
            </a:avLst>
          </a:prstGeom>
          <a:solidFill>
            <a:srgbClr val="F0F5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2"/>
                </a:solidFill>
                <a:latin typeface="Meiryo UI"/>
              </a:defRPr>
            </a:pPr>
            <a:r>
              <a:t>■ ご提案の背景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86000"/>
            <a:ext cx="2926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2703835"/>
            <a:ext cx="25603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B7A8D"/>
                </a:solidFill>
                <a:latin typeface="Meiryo UI"/>
              </a:defRPr>
            </a:pPr>
            <a:r>
              <a:t>背景情報をここに記載してください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4747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2"/>
                </a:solidFill>
                <a:latin typeface="Meiryo UI"/>
              </a:defRPr>
            </a:pPr>
            <a:r>
              <a:t>■ おすすめポイント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377440"/>
            <a:ext cx="320040" cy="32004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73168" y="239572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3957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Meiryo UI"/>
              </a:defRPr>
            </a:pPr>
            <a:r>
              <a:t>ポイント１を記載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2926080"/>
            <a:ext cx="320040" cy="320040"/>
          </a:xfrm>
          <a:prstGeom prst="roundRect">
            <a:avLst/>
          </a:prstGeom>
          <a:solidFill>
            <a:srgbClr val="259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73168" y="29443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9443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Meiryo UI"/>
              </a:defRPr>
            </a:pPr>
            <a:r>
              <a:t>ポイント２を記載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474720"/>
            <a:ext cx="320040" cy="320040"/>
          </a:xfrm>
          <a:prstGeom prst="roundRect">
            <a:avLst/>
          </a:prstGeom>
          <a:solidFill>
            <a:srgbClr val="4DA8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73168" y="34930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4930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Meiryo UI"/>
              </a:defRPr>
            </a:pPr>
            <a:r>
              <a:t>ポイント３を記載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1463040"/>
            <a:ext cx="3474720" cy="475488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9536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■ 推奨商品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2377440"/>
            <a:ext cx="2743200" cy="1371600"/>
          </a:xfrm>
          <a:prstGeom prst="roundRect">
            <a:avLst/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7824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AABB8"/>
                </a:solidFill>
                <a:latin typeface="Meiryo UI"/>
              </a:defRPr>
            </a:pPr>
            <a:r>
              <a:t>RECOMMENDED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25083"/>
            <a:ext cx="457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332"/>
                </a:solidFill>
                <a:latin typeface="Meiryo UI"/>
              </a:defRPr>
            </a:pPr>
            <a:r>
              <a:t>商品詳細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PRODUCT DETAILS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4114800" cy="475488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347472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A8D"/>
                </a:solidFill>
                <a:latin typeface="Meiryo UI"/>
              </a:defRPr>
            </a:pPr>
            <a:r>
              <a:t>[ 商品画像 ]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D563D32-D606-C7BB-C183-2D07EA23C350}"/>
              </a:ext>
            </a:extLst>
          </p:cNvPr>
          <p:cNvGrpSpPr/>
          <p:nvPr/>
        </p:nvGrpSpPr>
        <p:grpSpPr>
          <a:xfrm>
            <a:off x="2054860" y="1645920"/>
            <a:ext cx="1102360" cy="365760"/>
            <a:chOff x="726440" y="1645920"/>
            <a:chExt cx="1102360" cy="365760"/>
          </a:xfrm>
        </p:grpSpPr>
        <p:sp>
          <p:nvSpPr>
            <p:cNvPr id="9" name="Rounded Rectangle 8"/>
            <p:cNvSpPr/>
            <p:nvPr/>
          </p:nvSpPr>
          <p:spPr>
            <a:xfrm>
              <a:off x="731520" y="1645920"/>
              <a:ext cx="1097280" cy="365760"/>
            </a:xfrm>
            <a:prstGeom prst="roundRect">
              <a:avLst/>
            </a:prstGeom>
            <a:solidFill>
              <a:srgbClr val="1B7A4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26440" y="1705689"/>
              <a:ext cx="1097280" cy="246221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1000" b="1">
                  <a:solidFill>
                    <a:srgbClr val="FFFFFF"/>
                  </a:solidFill>
                  <a:latin typeface="Meiryo UI"/>
                </a:defRPr>
              </a:pPr>
              <a:r>
                <a:t>推奨商品</a:t>
              </a:r>
            </a:p>
          </p:txBody>
        </p:sp>
      </p:grpSp>
      <p:sp>
        <p:nvSpPr>
          <p:cNvPr id="11" name="Rounded Rectangle 10"/>
          <p:cNvSpPr/>
          <p:nvPr/>
        </p:nvSpPr>
        <p:spPr>
          <a:xfrm>
            <a:off x="5029200" y="1463040"/>
            <a:ext cx="6583680" cy="3200400"/>
          </a:xfrm>
          <a:prstGeom prst="roundRect">
            <a:avLst>
              <a:gd name="adj" fmla="val 785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1463040"/>
            <a:ext cx="6583680" cy="4572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0" y="1550014"/>
            <a:ext cx="27432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商品情報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2103120"/>
            <a:ext cx="6583680" cy="4572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03520" y="21488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商品名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488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0" y="2560320"/>
            <a:ext cx="6583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03520" y="26060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型番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06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3017520"/>
            <a:ext cx="6583680" cy="4572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30632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参考価格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0632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3474720"/>
            <a:ext cx="65836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03520" y="35204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納期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204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0" y="3931920"/>
            <a:ext cx="6583680" cy="457200"/>
          </a:xfrm>
          <a:prstGeom prst="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0" y="397763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最小ロット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9776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0" y="4937760"/>
            <a:ext cx="6583680" cy="1371600"/>
          </a:xfrm>
          <a:prstGeom prst="roundRect">
            <a:avLst/>
          </a:prstGeom>
          <a:solidFill>
            <a:srgbClr val="ECF8F1"/>
          </a:solidFill>
          <a:ln w="12700">
            <a:solidFill>
              <a:srgbClr val="1B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39496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■ 特徴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94960" y="53949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2332"/>
                </a:solidFill>
                <a:latin typeface="Meiryo UI"/>
              </a:defRPr>
            </a:pPr>
            <a:r>
              <a:t>・ 特徴１を記載してください</a:t>
            </a:r>
            <a:br/>
            <a:r>
              <a:t>・ 特徴２を記載してください</a:t>
            </a:r>
            <a:br/>
            <a:r>
              <a:t>・ 特徴３を記載してください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5237" y="435788"/>
            <a:ext cx="457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332"/>
                </a:solidFill>
                <a:latin typeface="Meiryo UI"/>
              </a:defRPr>
            </a:pPr>
            <a:r>
              <a:t>候補商品比較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PRODUCT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395222"/>
            <a:ext cx="3474720" cy="523455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22959" y="17609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599" y="24590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6700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7A4C"/>
                </a:solidFill>
                <a:latin typeface="Meiryo UI"/>
              </a:defRPr>
            </a:pPr>
            <a:r>
              <a:t>推奨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94435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32"/>
                </a:solidFill>
                <a:latin typeface="Meiryo UI"/>
              </a:defRPr>
            </a:pPr>
            <a:r>
              <a:t>商品名 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48763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¥〇〇〇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59" y="5853398"/>
            <a:ext cx="2926080" cy="548640"/>
          </a:xfrm>
          <a:prstGeom prst="roundRect">
            <a:avLst/>
          </a:prstGeom>
          <a:solidFill>
            <a:srgbClr val="EC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6004607"/>
            <a:ext cx="25603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1A2332"/>
                </a:solidFill>
                <a:latin typeface="Meiryo UI"/>
              </a:defRPr>
            </a:pPr>
            <a:r>
              <a:t>コメントを記載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395222"/>
            <a:ext cx="3474720" cy="523455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663440" y="17609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81600" y="24590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6700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A8D"/>
                </a:solidFill>
                <a:latin typeface="Meiryo UI"/>
              </a:defRPr>
            </a:pPr>
            <a:r>
              <a:t>候補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94435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32"/>
                </a:solidFill>
                <a:latin typeface="Meiryo UI"/>
              </a:defRPr>
            </a:pPr>
            <a:r>
              <a:t>商品名 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48763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¥〇〇〇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5853398"/>
            <a:ext cx="2926080" cy="54864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46320" y="6004607"/>
            <a:ext cx="25603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1A2332"/>
                </a:solidFill>
                <a:latin typeface="Meiryo UI"/>
              </a:defRPr>
            </a:pPr>
            <a:r>
              <a:t>コメントを記載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1395222"/>
            <a:ext cx="3474720" cy="523455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503920" y="17609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52560" y="2459043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3670031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B7A8D"/>
                </a:solidFill>
                <a:latin typeface="Meiryo UI"/>
              </a:defRPr>
            </a:pPr>
            <a:r>
              <a:t>候補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944351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2332"/>
                </a:solidFill>
                <a:latin typeface="Meiryo UI"/>
              </a:defRPr>
            </a:pPr>
            <a:r>
              <a:t>商品名 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0" y="548763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332"/>
                </a:solidFill>
                <a:latin typeface="Meiryo UI"/>
              </a:defRPr>
            </a:pPr>
            <a:r>
              <a:t>¥〇〇〇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03920" y="5853398"/>
            <a:ext cx="2926080" cy="54864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0" y="6004607"/>
            <a:ext cx="256032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1A2332"/>
                </a:solidFill>
                <a:latin typeface="Meiryo UI"/>
              </a:defRPr>
            </a:pPr>
            <a:r>
              <a:t>コメントを記載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4242BA5-EDA9-51AD-8C71-600E374389C4}"/>
              </a:ext>
            </a:extLst>
          </p:cNvPr>
          <p:cNvSpPr txBox="1"/>
          <p:nvPr/>
        </p:nvSpPr>
        <p:spPr>
          <a:xfrm>
            <a:off x="747574" y="5060918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価格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D46480-2E00-ED55-8A83-ED485E6A5054}"/>
              </a:ext>
            </a:extLst>
          </p:cNvPr>
          <p:cNvSpPr txBox="1"/>
          <p:nvPr/>
        </p:nvSpPr>
        <p:spPr>
          <a:xfrm>
            <a:off x="4625747" y="5060918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価格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83F6C3-C174-3FB2-5326-1C88F1EE49AC}"/>
              </a:ext>
            </a:extLst>
          </p:cNvPr>
          <p:cNvSpPr txBox="1"/>
          <p:nvPr/>
        </p:nvSpPr>
        <p:spPr>
          <a:xfrm>
            <a:off x="8463434" y="5060918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価格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6B7D6B-B990-AFCC-F6F6-AE6A7A6C29D1}"/>
              </a:ext>
            </a:extLst>
          </p:cNvPr>
          <p:cNvSpPr txBox="1"/>
          <p:nvPr/>
        </p:nvSpPr>
        <p:spPr>
          <a:xfrm>
            <a:off x="747574" y="435583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特徴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308258C-A2FB-E440-F459-F83AF3A9A970}"/>
              </a:ext>
            </a:extLst>
          </p:cNvPr>
          <p:cNvSpPr txBox="1"/>
          <p:nvPr/>
        </p:nvSpPr>
        <p:spPr>
          <a:xfrm>
            <a:off x="4625747" y="435583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特徴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AE726E-20A1-CBBB-8428-F4EF6F4736B2}"/>
              </a:ext>
            </a:extLst>
          </p:cNvPr>
          <p:cNvSpPr txBox="1"/>
          <p:nvPr/>
        </p:nvSpPr>
        <p:spPr>
          <a:xfrm>
            <a:off x="8463434" y="435583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特徴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77470B6-ABE5-270B-3BE0-C7CC76E63F6A}"/>
              </a:ext>
            </a:extLst>
          </p:cNvPr>
          <p:cNvSpPr txBox="1"/>
          <p:nvPr/>
        </p:nvSpPr>
        <p:spPr>
          <a:xfrm>
            <a:off x="798194" y="4594195"/>
            <a:ext cx="8547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特徴を記載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588872D-0337-B733-7077-902332E8223A}"/>
              </a:ext>
            </a:extLst>
          </p:cNvPr>
          <p:cNvSpPr txBox="1"/>
          <p:nvPr/>
        </p:nvSpPr>
        <p:spPr>
          <a:xfrm>
            <a:off x="4676367" y="4594195"/>
            <a:ext cx="8547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特徴を記載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F2BB30-4EBF-C855-F41B-F75D19BAE7EF}"/>
              </a:ext>
            </a:extLst>
          </p:cNvPr>
          <p:cNvSpPr txBox="1"/>
          <p:nvPr/>
        </p:nvSpPr>
        <p:spPr>
          <a:xfrm>
            <a:off x="8514054" y="4594195"/>
            <a:ext cx="8547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特徴を記載</a:t>
            </a:r>
            <a:endParaRPr lang="en-US" sz="11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Generated text">
            <a:extLst>
              <a:ext uri="{FF2B5EF4-FFF2-40B4-BE49-F238E27FC236}">
                <a16:creationId xmlns:a16="http://schemas.microsoft.com/office/drawing/2014/main" id="{2E1ADF91-0C2D-AADD-A258-855EE909215E}"/>
              </a:ext>
            </a:extLst>
          </p:cNvPr>
          <p:cNvSpPr txBox="1"/>
          <p:nvPr/>
        </p:nvSpPr>
        <p:spPr>
          <a:xfrm>
            <a:off x="1897126" y="506091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r>
              <a:rPr lang="ja-JP" sz="900" dirty="0">
                <a:solidFill>
                  <a:srgbClr val="52647A"/>
                </a:solidFill>
                <a:latin typeface="Yu Gothic"/>
                <a:ea typeface="Yu Gothic"/>
              </a:rPr>
              <a:t>数量</a:t>
            </a:r>
            <a:endParaRPr lang="ja-JP" sz="900" dirty="0"/>
          </a:p>
        </p:txBody>
      </p:sp>
      <p:sp>
        <p:nvSpPr>
          <p:cNvPr id="19" name="Generated text">
            <a:extLst>
              <a:ext uri="{FF2B5EF4-FFF2-40B4-BE49-F238E27FC236}">
                <a16:creationId xmlns:a16="http://schemas.microsoft.com/office/drawing/2014/main" id="{67D523E0-F03B-B72F-9289-E643A716300A}"/>
              </a:ext>
            </a:extLst>
          </p:cNvPr>
          <p:cNvSpPr txBox="1"/>
          <p:nvPr/>
        </p:nvSpPr>
        <p:spPr>
          <a:xfrm>
            <a:off x="5669280" y="506091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r>
              <a:rPr lang="ja-JP" sz="900" dirty="0">
                <a:solidFill>
                  <a:srgbClr val="52647A"/>
                </a:solidFill>
                <a:latin typeface="Yu Gothic"/>
                <a:ea typeface="Yu Gothic"/>
              </a:rPr>
              <a:t>数量</a:t>
            </a:r>
            <a:endParaRPr lang="ja-JP" sz="900" dirty="0"/>
          </a:p>
        </p:txBody>
      </p:sp>
      <p:sp>
        <p:nvSpPr>
          <p:cNvPr id="30" name="Generated text">
            <a:extLst>
              <a:ext uri="{FF2B5EF4-FFF2-40B4-BE49-F238E27FC236}">
                <a16:creationId xmlns:a16="http://schemas.microsoft.com/office/drawing/2014/main" id="{9954FA92-1D3E-0CF6-0563-A64A77C3F3DA}"/>
              </a:ext>
            </a:extLst>
          </p:cNvPr>
          <p:cNvSpPr txBox="1"/>
          <p:nvPr/>
        </p:nvSpPr>
        <p:spPr>
          <a:xfrm>
            <a:off x="9509760" y="506091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r>
              <a:rPr lang="ja-JP" sz="900" dirty="0">
                <a:solidFill>
                  <a:srgbClr val="52647A"/>
                </a:solidFill>
                <a:latin typeface="Yu Gothic"/>
                <a:ea typeface="Yu Gothic"/>
              </a:rPr>
              <a:t>数量</a:t>
            </a:r>
            <a:endParaRPr lang="ja-JP" sz="900" dirty="0"/>
          </a:p>
        </p:txBody>
      </p:sp>
      <p:sp>
        <p:nvSpPr>
          <p:cNvPr id="13" name="Generated text">
            <a:extLst>
              <a:ext uri="{FF2B5EF4-FFF2-40B4-BE49-F238E27FC236}">
                <a16:creationId xmlns:a16="http://schemas.microsoft.com/office/drawing/2014/main" id="{07A04278-6C09-5AD4-A151-99F26408D6B0}"/>
              </a:ext>
            </a:extLst>
          </p:cNvPr>
          <p:cNvSpPr txBox="1"/>
          <p:nvPr/>
        </p:nvSpPr>
        <p:spPr>
          <a:xfrm>
            <a:off x="2811526" y="506091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r>
              <a:rPr lang="ja-JP" altLang="en-US" sz="900">
                <a:solidFill>
                  <a:srgbClr val="52647A"/>
                </a:solidFill>
                <a:latin typeface="Yu Gothic"/>
                <a:ea typeface="Yu Gothic"/>
              </a:rPr>
              <a:t>売上</a:t>
            </a:r>
            <a:endParaRPr lang="ja-JP" sz="900" dirty="0"/>
          </a:p>
        </p:txBody>
      </p:sp>
      <p:sp>
        <p:nvSpPr>
          <p:cNvPr id="14" name="Generated text">
            <a:extLst>
              <a:ext uri="{FF2B5EF4-FFF2-40B4-BE49-F238E27FC236}">
                <a16:creationId xmlns:a16="http://schemas.microsoft.com/office/drawing/2014/main" id="{C31C733A-23F3-BC0F-F523-6CD809953FEA}"/>
              </a:ext>
            </a:extLst>
          </p:cNvPr>
          <p:cNvSpPr txBox="1"/>
          <p:nvPr/>
        </p:nvSpPr>
        <p:spPr>
          <a:xfrm>
            <a:off x="6583680" y="506091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r>
              <a:rPr lang="ja-JP" altLang="en-US" sz="900">
                <a:solidFill>
                  <a:srgbClr val="52647A"/>
                </a:solidFill>
                <a:latin typeface="Yu Gothic"/>
                <a:ea typeface="Yu Gothic"/>
              </a:rPr>
              <a:t>売上</a:t>
            </a:r>
            <a:endParaRPr lang="ja-JP" sz="900" dirty="0"/>
          </a:p>
        </p:txBody>
      </p:sp>
      <p:sp>
        <p:nvSpPr>
          <p:cNvPr id="24" name="Generated text">
            <a:extLst>
              <a:ext uri="{FF2B5EF4-FFF2-40B4-BE49-F238E27FC236}">
                <a16:creationId xmlns:a16="http://schemas.microsoft.com/office/drawing/2014/main" id="{337B65E8-8BC7-68E7-BF64-E132F6DE8AF1}"/>
              </a:ext>
            </a:extLst>
          </p:cNvPr>
          <p:cNvSpPr txBox="1"/>
          <p:nvPr/>
        </p:nvSpPr>
        <p:spPr>
          <a:xfrm>
            <a:off x="10424160" y="506091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/>
          <a:p>
            <a:r>
              <a:rPr lang="ja-JP" altLang="en-US" sz="900">
                <a:solidFill>
                  <a:srgbClr val="52647A"/>
                </a:solidFill>
                <a:latin typeface="Yu Gothic"/>
                <a:ea typeface="Yu Gothic"/>
              </a:rPr>
              <a:t>売上</a:t>
            </a:r>
            <a:endParaRPr lang="ja-JP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22996-CB53-2ACB-1DDB-27139F240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7B30D07-8193-579E-CEC2-7FF3C0C42138}"/>
              </a:ext>
            </a:extLst>
          </p:cNvPr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1F5285-9916-3D32-3DCB-88C8AC502A48}"/>
              </a:ext>
            </a:extLst>
          </p:cNvPr>
          <p:cNvSpPr txBox="1"/>
          <p:nvPr/>
        </p:nvSpPr>
        <p:spPr>
          <a:xfrm>
            <a:off x="548640" y="429542"/>
            <a:ext cx="457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A54B0-2984-A6C9-76CA-5A01EBEE7E8D}"/>
              </a:ext>
            </a:extLst>
          </p:cNvPr>
          <p:cNvSpPr txBox="1"/>
          <p:nvPr/>
        </p:nvSpPr>
        <p:spPr>
          <a:xfrm>
            <a:off x="1188720" y="365760"/>
            <a:ext cx="47167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332"/>
                </a:solidFill>
                <a:latin typeface="Meiryo UI"/>
              </a:defRPr>
            </a:pPr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候補商</a:t>
            </a:r>
            <a:r>
              <a:rPr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品</a:t>
            </a:r>
            <a:r>
              <a:rPr lang="en-US" altLang="ja-JP">
                <a:latin typeface="Meiryo UI" panose="020B0604030504040204" pitchFamily="34" charset="-128"/>
                <a:ea typeface="Meiryo UI" panose="020B0604030504040204" pitchFamily="34" charset="-128"/>
              </a:rPr>
              <a:t>-</a:t>
            </a:r>
            <a:r>
              <a:rPr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商品名 ①</a:t>
            </a:r>
          </a:p>
          <a:p>
            <a:pPr algn="l">
              <a:defRPr sz="2400" b="1">
                <a:solidFill>
                  <a:srgbClr val="1A2332"/>
                </a:solidFill>
                <a:latin typeface="Meiryo UI"/>
              </a:defRPr>
            </a:pPr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5E9C4-76A4-5339-A584-A30A82DCB724}"/>
              </a:ext>
            </a:extLst>
          </p:cNvPr>
          <p:cNvSpPr txBox="1"/>
          <p:nvPr/>
        </p:nvSpPr>
        <p:spPr>
          <a:xfrm>
            <a:off x="11887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PRODUCT COMPARISON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58EAAB-D4E6-058F-2FF4-EF16A3D4D436}"/>
              </a:ext>
            </a:extLst>
          </p:cNvPr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2911634-1D48-2A1F-13F6-23493ACE6ED7}"/>
              </a:ext>
            </a:extLst>
          </p:cNvPr>
          <p:cNvSpPr/>
          <p:nvPr/>
        </p:nvSpPr>
        <p:spPr>
          <a:xfrm>
            <a:off x="1188720" y="17609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DB0480-6BD0-0919-9B5A-F9F76853187E}"/>
              </a:ext>
            </a:extLst>
          </p:cNvPr>
          <p:cNvSpPr txBox="1"/>
          <p:nvPr/>
        </p:nvSpPr>
        <p:spPr>
          <a:xfrm>
            <a:off x="1737360" y="24590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9675A85C-9FBB-CC6D-EB55-89707D9470BD}"/>
              </a:ext>
            </a:extLst>
          </p:cNvPr>
          <p:cNvSpPr/>
          <p:nvPr/>
        </p:nvSpPr>
        <p:spPr>
          <a:xfrm>
            <a:off x="4663440" y="17609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27FBBC-1579-AAAE-CD1A-D1BAE42AA4E1}"/>
              </a:ext>
            </a:extLst>
          </p:cNvPr>
          <p:cNvSpPr txBox="1"/>
          <p:nvPr/>
        </p:nvSpPr>
        <p:spPr>
          <a:xfrm>
            <a:off x="5212080" y="24590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5CCF79EF-6B2C-C193-74A8-C1AA4E9EF14A}"/>
              </a:ext>
            </a:extLst>
          </p:cNvPr>
          <p:cNvSpPr/>
          <p:nvPr/>
        </p:nvSpPr>
        <p:spPr>
          <a:xfrm>
            <a:off x="8138160" y="17609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9983988-C34A-6391-7ACB-59DFCCBA8437}"/>
              </a:ext>
            </a:extLst>
          </p:cNvPr>
          <p:cNvSpPr txBox="1"/>
          <p:nvPr/>
        </p:nvSpPr>
        <p:spPr>
          <a:xfrm>
            <a:off x="8686800" y="24590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50" name="Rounded Rectangle 8">
            <a:extLst>
              <a:ext uri="{FF2B5EF4-FFF2-40B4-BE49-F238E27FC236}">
                <a16:creationId xmlns:a16="http://schemas.microsoft.com/office/drawing/2014/main" id="{5F184944-A186-6015-2B5A-0838D6986B83}"/>
              </a:ext>
            </a:extLst>
          </p:cNvPr>
          <p:cNvSpPr/>
          <p:nvPr/>
        </p:nvSpPr>
        <p:spPr>
          <a:xfrm>
            <a:off x="1188720" y="40088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3EC11D-25F3-8C4D-2904-84A3F82983B4}"/>
              </a:ext>
            </a:extLst>
          </p:cNvPr>
          <p:cNvSpPr txBox="1"/>
          <p:nvPr/>
        </p:nvSpPr>
        <p:spPr>
          <a:xfrm>
            <a:off x="1737360" y="47069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52" name="Rounded Rectangle 8">
            <a:extLst>
              <a:ext uri="{FF2B5EF4-FFF2-40B4-BE49-F238E27FC236}">
                <a16:creationId xmlns:a16="http://schemas.microsoft.com/office/drawing/2014/main" id="{705E7345-0F45-8459-A2F6-03FB79F17291}"/>
              </a:ext>
            </a:extLst>
          </p:cNvPr>
          <p:cNvSpPr/>
          <p:nvPr/>
        </p:nvSpPr>
        <p:spPr>
          <a:xfrm>
            <a:off x="4663440" y="40088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7A3B43-D5FA-F0CA-6741-754847DCAD5C}"/>
              </a:ext>
            </a:extLst>
          </p:cNvPr>
          <p:cNvSpPr txBox="1"/>
          <p:nvPr/>
        </p:nvSpPr>
        <p:spPr>
          <a:xfrm>
            <a:off x="5212080" y="47069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54" name="Rounded Rectangle 8">
            <a:extLst>
              <a:ext uri="{FF2B5EF4-FFF2-40B4-BE49-F238E27FC236}">
                <a16:creationId xmlns:a16="http://schemas.microsoft.com/office/drawing/2014/main" id="{C83137B8-050C-057F-1AE0-0C36A4A92065}"/>
              </a:ext>
            </a:extLst>
          </p:cNvPr>
          <p:cNvSpPr/>
          <p:nvPr/>
        </p:nvSpPr>
        <p:spPr>
          <a:xfrm>
            <a:off x="8138160" y="40088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D39732-FFD6-7145-4A47-BAAFD116EA42}"/>
              </a:ext>
            </a:extLst>
          </p:cNvPr>
          <p:cNvSpPr txBox="1"/>
          <p:nvPr/>
        </p:nvSpPr>
        <p:spPr>
          <a:xfrm>
            <a:off x="8686800" y="47069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</p:spTree>
    <p:extLst>
      <p:ext uri="{BB962C8B-B14F-4D97-AF65-F5344CB8AC3E}">
        <p14:creationId xmlns:p14="http://schemas.microsoft.com/office/powerpoint/2010/main" val="71405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2799D-D188-5940-5FBE-59E6E586B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1D4A8FE-C26D-356C-FCD7-5E44277FA64B}"/>
              </a:ext>
            </a:extLst>
          </p:cNvPr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4B761E-0443-9808-7D5F-AAD5D05DFA8C}"/>
              </a:ext>
            </a:extLst>
          </p:cNvPr>
          <p:cNvSpPr txBox="1"/>
          <p:nvPr/>
        </p:nvSpPr>
        <p:spPr>
          <a:xfrm>
            <a:off x="548640" y="425083"/>
            <a:ext cx="457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2D7B5A-98E4-F059-E00F-78A0E0587827}"/>
              </a:ext>
            </a:extLst>
          </p:cNvPr>
          <p:cNvSpPr txBox="1"/>
          <p:nvPr/>
        </p:nvSpPr>
        <p:spPr>
          <a:xfrm>
            <a:off x="1188720" y="365760"/>
            <a:ext cx="4716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332"/>
                </a:solidFill>
                <a:latin typeface="Meiryo UI"/>
              </a:defRPr>
            </a:pPr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候補商</a:t>
            </a:r>
            <a:r>
              <a:rPr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品</a:t>
            </a:r>
            <a:r>
              <a:rPr lang="en-US" altLang="ja-JP">
                <a:latin typeface="Meiryo UI" panose="020B0604030504040204" pitchFamily="34" charset="-128"/>
                <a:ea typeface="Meiryo UI" panose="020B0604030504040204" pitchFamily="34" charset="-128"/>
              </a:rPr>
              <a:t>-</a:t>
            </a:r>
            <a:r>
              <a:rPr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商品名②</a:t>
            </a:r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DB148C-7107-45F2-8AA4-6AB87BE1D78F}"/>
              </a:ext>
            </a:extLst>
          </p:cNvPr>
          <p:cNvSpPr txBox="1"/>
          <p:nvPr/>
        </p:nvSpPr>
        <p:spPr>
          <a:xfrm>
            <a:off x="11887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PRODUCT COMPARISON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7F808A-C573-BC21-930E-A01A92AC7149}"/>
              </a:ext>
            </a:extLst>
          </p:cNvPr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9F2386-635D-8F5F-CCE0-34F574162218}"/>
              </a:ext>
            </a:extLst>
          </p:cNvPr>
          <p:cNvSpPr/>
          <p:nvPr/>
        </p:nvSpPr>
        <p:spPr>
          <a:xfrm>
            <a:off x="1188720" y="17609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8B5519-72CA-812B-BB7D-EAC95F1515DA}"/>
              </a:ext>
            </a:extLst>
          </p:cNvPr>
          <p:cNvSpPr txBox="1"/>
          <p:nvPr/>
        </p:nvSpPr>
        <p:spPr>
          <a:xfrm>
            <a:off x="1737360" y="24590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815C6FFD-0F69-A575-B72B-75CAB5556C9E}"/>
              </a:ext>
            </a:extLst>
          </p:cNvPr>
          <p:cNvSpPr/>
          <p:nvPr/>
        </p:nvSpPr>
        <p:spPr>
          <a:xfrm>
            <a:off x="4663440" y="17609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97C7E1-16EC-17C6-5ED2-198CE48EAA71}"/>
              </a:ext>
            </a:extLst>
          </p:cNvPr>
          <p:cNvSpPr txBox="1"/>
          <p:nvPr/>
        </p:nvSpPr>
        <p:spPr>
          <a:xfrm>
            <a:off x="5212080" y="24590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F8AE678D-5A3C-484D-9AD9-9789BA2B129B}"/>
              </a:ext>
            </a:extLst>
          </p:cNvPr>
          <p:cNvSpPr/>
          <p:nvPr/>
        </p:nvSpPr>
        <p:spPr>
          <a:xfrm>
            <a:off x="8138160" y="17609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F2B6D4-143C-B28F-A54C-9E822D7999D0}"/>
              </a:ext>
            </a:extLst>
          </p:cNvPr>
          <p:cNvSpPr txBox="1"/>
          <p:nvPr/>
        </p:nvSpPr>
        <p:spPr>
          <a:xfrm>
            <a:off x="8686800" y="24590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50" name="Rounded Rectangle 8">
            <a:extLst>
              <a:ext uri="{FF2B5EF4-FFF2-40B4-BE49-F238E27FC236}">
                <a16:creationId xmlns:a16="http://schemas.microsoft.com/office/drawing/2014/main" id="{B6B3E19E-54CF-BD01-389C-2E0656F2C55E}"/>
              </a:ext>
            </a:extLst>
          </p:cNvPr>
          <p:cNvSpPr/>
          <p:nvPr/>
        </p:nvSpPr>
        <p:spPr>
          <a:xfrm>
            <a:off x="1188720" y="40088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3523CE-CBDE-7572-6559-9D82CC83A176}"/>
              </a:ext>
            </a:extLst>
          </p:cNvPr>
          <p:cNvSpPr txBox="1"/>
          <p:nvPr/>
        </p:nvSpPr>
        <p:spPr>
          <a:xfrm>
            <a:off x="1737360" y="47069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52" name="Rounded Rectangle 8">
            <a:extLst>
              <a:ext uri="{FF2B5EF4-FFF2-40B4-BE49-F238E27FC236}">
                <a16:creationId xmlns:a16="http://schemas.microsoft.com/office/drawing/2014/main" id="{A839650E-532C-5E51-690D-2B7FCF47A69F}"/>
              </a:ext>
            </a:extLst>
          </p:cNvPr>
          <p:cNvSpPr/>
          <p:nvPr/>
        </p:nvSpPr>
        <p:spPr>
          <a:xfrm>
            <a:off x="4663440" y="40088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A774C32-CE00-8A0F-B1B8-55B988D1CBA0}"/>
              </a:ext>
            </a:extLst>
          </p:cNvPr>
          <p:cNvSpPr txBox="1"/>
          <p:nvPr/>
        </p:nvSpPr>
        <p:spPr>
          <a:xfrm>
            <a:off x="5212080" y="47069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54" name="Rounded Rectangle 8">
            <a:extLst>
              <a:ext uri="{FF2B5EF4-FFF2-40B4-BE49-F238E27FC236}">
                <a16:creationId xmlns:a16="http://schemas.microsoft.com/office/drawing/2014/main" id="{1E1BB1FE-52AB-5B71-E3FC-C8A43817DE42}"/>
              </a:ext>
            </a:extLst>
          </p:cNvPr>
          <p:cNvSpPr/>
          <p:nvPr/>
        </p:nvSpPr>
        <p:spPr>
          <a:xfrm>
            <a:off x="8138160" y="40088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6C39CC-22A6-9630-3F31-DA562F2053FC}"/>
              </a:ext>
            </a:extLst>
          </p:cNvPr>
          <p:cNvSpPr txBox="1"/>
          <p:nvPr/>
        </p:nvSpPr>
        <p:spPr>
          <a:xfrm>
            <a:off x="8686800" y="47069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</p:spTree>
    <p:extLst>
      <p:ext uri="{BB962C8B-B14F-4D97-AF65-F5344CB8AC3E}">
        <p14:creationId xmlns:p14="http://schemas.microsoft.com/office/powerpoint/2010/main" val="3406242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85A4F-DD98-0D4A-960C-71D671AE1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D8D55FD-A137-9D37-C35E-2EA26FCE6650}"/>
              </a:ext>
            </a:extLst>
          </p:cNvPr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C50B18-1277-A2E8-0DF1-3800286DD2B9}"/>
              </a:ext>
            </a:extLst>
          </p:cNvPr>
          <p:cNvSpPr txBox="1"/>
          <p:nvPr/>
        </p:nvSpPr>
        <p:spPr>
          <a:xfrm>
            <a:off x="548640" y="425083"/>
            <a:ext cx="457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6245B0-6FF8-ADA9-B7B9-54D666F4059F}"/>
              </a:ext>
            </a:extLst>
          </p:cNvPr>
          <p:cNvSpPr txBox="1"/>
          <p:nvPr/>
        </p:nvSpPr>
        <p:spPr>
          <a:xfrm>
            <a:off x="1188720" y="365760"/>
            <a:ext cx="47167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A2332"/>
                </a:solidFill>
                <a:latin typeface="Meiryo UI"/>
              </a:defRPr>
            </a:pPr>
            <a:r>
              <a:rPr>
                <a:latin typeface="Meiryo UI" panose="020B0604030504040204" pitchFamily="34" charset="-128"/>
                <a:ea typeface="Meiryo UI" panose="020B0604030504040204" pitchFamily="34" charset="-128"/>
              </a:rPr>
              <a:t>候補商</a:t>
            </a:r>
            <a:r>
              <a:rPr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品</a:t>
            </a:r>
            <a:r>
              <a:rPr lang="en-US" altLang="ja-JP">
                <a:latin typeface="Meiryo UI" panose="020B0604030504040204" pitchFamily="34" charset="-128"/>
                <a:ea typeface="Meiryo UI" panose="020B0604030504040204" pitchFamily="34" charset="-128"/>
              </a:rPr>
              <a:t>-</a:t>
            </a:r>
            <a:r>
              <a:rPr lang="ja-JP" altLang="en-US">
                <a:latin typeface="Meiryo UI" panose="020B0604030504040204" pitchFamily="34" charset="-128"/>
                <a:ea typeface="Meiryo UI" panose="020B0604030504040204" pitchFamily="34" charset="-128"/>
              </a:rPr>
              <a:t>商品名③</a:t>
            </a:r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E966C1-18A0-402F-1DFF-F206BCA2EE18}"/>
              </a:ext>
            </a:extLst>
          </p:cNvPr>
          <p:cNvSpPr txBox="1"/>
          <p:nvPr/>
        </p:nvSpPr>
        <p:spPr>
          <a:xfrm>
            <a:off x="11887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PRODUCT COMPARISON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CD4BF0-A108-6A0C-1DEF-B49248E03775}"/>
              </a:ext>
            </a:extLst>
          </p:cNvPr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DC0263E-4188-82C7-D56D-BA231A02B68D}"/>
              </a:ext>
            </a:extLst>
          </p:cNvPr>
          <p:cNvSpPr/>
          <p:nvPr/>
        </p:nvSpPr>
        <p:spPr>
          <a:xfrm>
            <a:off x="1188720" y="17609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F4C17A-642A-0F2D-1193-04246D493262}"/>
              </a:ext>
            </a:extLst>
          </p:cNvPr>
          <p:cNvSpPr txBox="1"/>
          <p:nvPr/>
        </p:nvSpPr>
        <p:spPr>
          <a:xfrm>
            <a:off x="1737360" y="24590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BFFAA084-F369-11E0-1FA0-3A1AEC200144}"/>
              </a:ext>
            </a:extLst>
          </p:cNvPr>
          <p:cNvSpPr/>
          <p:nvPr/>
        </p:nvSpPr>
        <p:spPr>
          <a:xfrm>
            <a:off x="4663440" y="17609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EA63AC-B427-FA29-9132-25FBEE735758}"/>
              </a:ext>
            </a:extLst>
          </p:cNvPr>
          <p:cNvSpPr txBox="1"/>
          <p:nvPr/>
        </p:nvSpPr>
        <p:spPr>
          <a:xfrm>
            <a:off x="5212080" y="24590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F161F59F-CC96-BDC8-8A16-50F3196ACEB4}"/>
              </a:ext>
            </a:extLst>
          </p:cNvPr>
          <p:cNvSpPr/>
          <p:nvPr/>
        </p:nvSpPr>
        <p:spPr>
          <a:xfrm>
            <a:off x="8138160" y="17609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F87E87-65E8-7C7C-2BF5-0DF9269F4B63}"/>
              </a:ext>
            </a:extLst>
          </p:cNvPr>
          <p:cNvSpPr txBox="1"/>
          <p:nvPr/>
        </p:nvSpPr>
        <p:spPr>
          <a:xfrm>
            <a:off x="8686800" y="24590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50" name="Rounded Rectangle 8">
            <a:extLst>
              <a:ext uri="{FF2B5EF4-FFF2-40B4-BE49-F238E27FC236}">
                <a16:creationId xmlns:a16="http://schemas.microsoft.com/office/drawing/2014/main" id="{F1A12215-0844-C4B1-FBC8-C1A7700E5EE3}"/>
              </a:ext>
            </a:extLst>
          </p:cNvPr>
          <p:cNvSpPr/>
          <p:nvPr/>
        </p:nvSpPr>
        <p:spPr>
          <a:xfrm>
            <a:off x="1188720" y="40088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D4E88B1-30C6-BEE9-931E-453EF5A96011}"/>
              </a:ext>
            </a:extLst>
          </p:cNvPr>
          <p:cNvSpPr txBox="1"/>
          <p:nvPr/>
        </p:nvSpPr>
        <p:spPr>
          <a:xfrm>
            <a:off x="1737360" y="47069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52" name="Rounded Rectangle 8">
            <a:extLst>
              <a:ext uri="{FF2B5EF4-FFF2-40B4-BE49-F238E27FC236}">
                <a16:creationId xmlns:a16="http://schemas.microsoft.com/office/drawing/2014/main" id="{278180C0-AE91-BDBD-9DD1-336787AF801C}"/>
              </a:ext>
            </a:extLst>
          </p:cNvPr>
          <p:cNvSpPr/>
          <p:nvPr/>
        </p:nvSpPr>
        <p:spPr>
          <a:xfrm>
            <a:off x="4663440" y="40088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AA0D70D-90A9-5C22-181B-DD30704E9CD3}"/>
              </a:ext>
            </a:extLst>
          </p:cNvPr>
          <p:cNvSpPr txBox="1"/>
          <p:nvPr/>
        </p:nvSpPr>
        <p:spPr>
          <a:xfrm>
            <a:off x="5212080" y="47069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  <p:sp>
        <p:nvSpPr>
          <p:cNvPr id="54" name="Rounded Rectangle 8">
            <a:extLst>
              <a:ext uri="{FF2B5EF4-FFF2-40B4-BE49-F238E27FC236}">
                <a16:creationId xmlns:a16="http://schemas.microsoft.com/office/drawing/2014/main" id="{304BBACD-4C7F-9124-2685-89FD71005D32}"/>
              </a:ext>
            </a:extLst>
          </p:cNvPr>
          <p:cNvSpPr/>
          <p:nvPr/>
        </p:nvSpPr>
        <p:spPr>
          <a:xfrm>
            <a:off x="8138160" y="4008882"/>
            <a:ext cx="2926080" cy="1828800"/>
          </a:xfrm>
          <a:prstGeom prst="roundRect">
            <a:avLst/>
          </a:prstGeom>
          <a:solidFill>
            <a:srgbClr val="F0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832718E-83DB-30A9-2283-10969DA184F5}"/>
              </a:ext>
            </a:extLst>
          </p:cNvPr>
          <p:cNvSpPr txBox="1"/>
          <p:nvPr/>
        </p:nvSpPr>
        <p:spPr>
          <a:xfrm>
            <a:off x="8686800" y="4706944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画像 ]</a:t>
            </a:r>
          </a:p>
        </p:txBody>
      </p:sp>
    </p:spTree>
    <p:extLst>
      <p:ext uri="{BB962C8B-B14F-4D97-AF65-F5344CB8AC3E}">
        <p14:creationId xmlns:p14="http://schemas.microsoft.com/office/powerpoint/2010/main" val="995209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25083"/>
            <a:ext cx="457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332"/>
                </a:solidFill>
                <a:latin typeface="Meiryo UI"/>
              </a:defRPr>
            </a:pPr>
            <a:r>
              <a:t>採用推奨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371600" y="1828800"/>
            <a:ext cx="3200400" cy="32004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1B7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57400" y="3229390"/>
            <a:ext cx="18288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B7A8D"/>
                </a:solidFill>
                <a:latin typeface="Meiryo UI"/>
              </a:defRPr>
            </a:pPr>
            <a:r>
              <a:t>[ 採用商品画像 ]</a:t>
            </a:r>
          </a:p>
        </p:txBody>
      </p:sp>
      <p:sp>
        <p:nvSpPr>
          <p:cNvPr id="9" name="Oval 8"/>
          <p:cNvSpPr/>
          <p:nvPr/>
        </p:nvSpPr>
        <p:spPr>
          <a:xfrm>
            <a:off x="3931920" y="4572000"/>
            <a:ext cx="640080" cy="640080"/>
          </a:xfrm>
          <a:prstGeom prst="ellipse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77639" y="4617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eiryo U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39496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B7A4C"/>
                </a:solidFill>
                <a:latin typeface="Meiryo UI"/>
              </a:defRPr>
            </a:pPr>
            <a:r>
              <a:rPr sz="1400"/>
              <a:t>採用推奨商品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A2332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463040"/>
            <a:ext cx="6217920" cy="475488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■ 推奨理由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56032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0" y="26060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理由タイトル１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260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推奨理由の詳細を記載してください。品質やコスト面での優位性など。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383279"/>
            <a:ext cx="5303520" cy="9144"/>
          </a:xfrm>
          <a:prstGeom prst="rect">
            <a:avLst/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43600" y="365760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理由タイトル２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推奨理由の詳細を記載してください。納期やサポート面での優位性など。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4480560"/>
            <a:ext cx="5303520" cy="9144"/>
          </a:xfrm>
          <a:prstGeom prst="rect">
            <a:avLst/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943600" y="475488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0" y="4800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理由タイトル３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推奨理由の詳細を記載してください。実績や信頼性など。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48640" y="365760"/>
            <a:ext cx="457200" cy="45720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25083"/>
            <a:ext cx="4572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 U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2332"/>
                </a:solidFill>
                <a:latin typeface="Meiryo UI"/>
              </a:defRPr>
            </a:pPr>
            <a:r>
              <a:t>スケジュール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777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SCHEDULE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0972800" cy="18288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645920" y="2011680"/>
            <a:ext cx="18288" cy="4114800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71600" y="1828800"/>
            <a:ext cx="548640" cy="548640"/>
          </a:xfrm>
          <a:prstGeom prst="ellipse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417320" y="19278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32"/>
                </a:solidFill>
                <a:latin typeface="Meiryo UI"/>
              </a:defRPr>
            </a:pPr>
            <a:r>
              <a:t>提案日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8745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148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8D"/>
                </a:solidFill>
                <a:latin typeface="Meiryo UI"/>
              </a:defRPr>
            </a:pPr>
            <a:r>
              <a:t>ご提案書の提出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2926080"/>
            <a:ext cx="548640" cy="548640"/>
          </a:xfrm>
          <a:prstGeom prst="ellipse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417320" y="30251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926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32"/>
                </a:solidFill>
                <a:latin typeface="Meiryo UI"/>
              </a:defRPr>
            </a:pPr>
            <a:r>
              <a:t>採用決定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971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246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8D"/>
                </a:solidFill>
                <a:latin typeface="Meiryo UI"/>
              </a:defRPr>
            </a:pPr>
            <a:r>
              <a:t>商品の採用承認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4023360"/>
            <a:ext cx="548640" cy="548640"/>
          </a:xfrm>
          <a:prstGeom prst="ellipse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1224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023360"/>
            <a:ext cx="1828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32"/>
                </a:solidFill>
                <a:latin typeface="Meiryo UI"/>
              </a:defRPr>
            </a:pPr>
            <a:r>
              <a:t>発注</a:t>
            </a:r>
            <a:r>
              <a:rPr lang="ja-JP" altLang="en-US"/>
              <a:t>予定日</a:t>
            </a: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0" y="40690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343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8D"/>
                </a:solidFill>
                <a:latin typeface="Meiryo UI"/>
              </a:defRPr>
            </a:pPr>
            <a:r>
              <a:t>正式な発注手続き</a:t>
            </a:r>
          </a:p>
        </p:txBody>
      </p:sp>
      <p:sp>
        <p:nvSpPr>
          <p:cNvPr id="23" name="Oval 22"/>
          <p:cNvSpPr/>
          <p:nvPr/>
        </p:nvSpPr>
        <p:spPr>
          <a:xfrm>
            <a:off x="1371600" y="5120640"/>
            <a:ext cx="548640" cy="548640"/>
          </a:xfrm>
          <a:prstGeom prst="ellipse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417320" y="52197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120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332"/>
                </a:solidFill>
                <a:latin typeface="Meiryo UI"/>
              </a:defRPr>
            </a:pPr>
            <a:r>
              <a:t>納品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A8D"/>
                </a:solidFill>
                <a:latin typeface="Meiryo UI"/>
              </a:defRPr>
            </a:pPr>
            <a:r>
              <a:t>________________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440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A8D"/>
                </a:solidFill>
                <a:latin typeface="Meiryo UI"/>
              </a:defRPr>
            </a:pPr>
            <a:r>
              <a:t>商品の納品完了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1463040"/>
            <a:ext cx="4754880" cy="411480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2332"/>
                </a:solidFill>
                <a:latin typeface="Meiryo UI"/>
              </a:defRPr>
            </a:pPr>
            <a:r>
              <a:t>■ 備考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0" y="2377440"/>
            <a:ext cx="402336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98079" y="2612395"/>
            <a:ext cx="365760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B7A8D"/>
                </a:solidFill>
                <a:latin typeface="Meiryo UI"/>
              </a:defRPr>
            </a:pPr>
            <a:r>
              <a:t>備考事項を記載してください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5760720"/>
            <a:ext cx="4754880" cy="731520"/>
          </a:xfrm>
          <a:prstGeom prst="round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40880" y="5995675"/>
            <a:ext cx="4389120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Meiryo UI"/>
              </a:defRPr>
            </a:pPr>
            <a:r>
              <a:rPr sz="1100"/>
              <a:t>※ スケジュールは変更される場合がございます。事前にご相談ください。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86800" y="-914400"/>
            <a:ext cx="3657600" cy="3657600"/>
          </a:xfrm>
          <a:prstGeom prst="ellipse">
            <a:avLst/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B7A4C"/>
                </a:solidFill>
                <a:latin typeface="Meiryo U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01168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eiryo UI"/>
              </a:defRPr>
            </a:pPr>
            <a:r>
              <a:t>ありがとうございました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291840"/>
            <a:ext cx="1097280" cy="36576"/>
          </a:xfrm>
          <a:prstGeom prst="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0" y="35661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AABB8"/>
                </a:solidFill>
                <a:latin typeface="Meiryo UI"/>
              </a:defRPr>
            </a:pPr>
            <a:r>
              <a:t>ご検討のほど</a:t>
            </a:r>
            <a:br/>
            <a:r>
              <a:t>よろしくお願いいたします。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4572000"/>
            <a:ext cx="3931920" cy="1645920"/>
          </a:xfrm>
          <a:prstGeom prst="roundRect">
            <a:avLst/>
          </a:prstGeom>
          <a:solidFill>
            <a:srgbClr val="2A3A52"/>
          </a:solidFill>
          <a:ln w="12700">
            <a:solidFill>
              <a:srgbClr val="3A4A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669280" y="4754880"/>
            <a:ext cx="822960" cy="548640"/>
          </a:xfrm>
          <a:prstGeom prst="roundRect">
            <a:avLst/>
          </a:prstGeom>
          <a:solidFill>
            <a:srgbClr val="1B7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69280" y="480060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eiryo UI"/>
              </a:defRPr>
            </a:pPr>
            <a: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39496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 UI"/>
              </a:defRPr>
            </a:pPr>
            <a:r>
              <a:t>Company 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5669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AABB8"/>
                </a:solidFill>
                <a:latin typeface="Meiryo UI"/>
              </a:defRPr>
            </a:pPr>
            <a:r>
              <a:t>Brand Visual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296</Words>
  <Application>Microsoft Office PowerPoint</Application>
  <PresentationFormat>Widescreen</PresentationFormat>
  <Paragraphs>145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Meiryo UI</vt:lpstr>
      <vt:lpstr>Yu Gothic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Truong Van Vu</cp:lastModifiedBy>
  <cp:revision>23</cp:revision>
  <dcterms:created xsi:type="dcterms:W3CDTF">2013-01-27T09:14:16Z</dcterms:created>
  <dcterms:modified xsi:type="dcterms:W3CDTF">2026-05-17T14:23:39Z</dcterms:modified>
  <cp:category/>
</cp:coreProperties>
</file>